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E3A98-EF0C-442C-823F-ABAF403C6DC9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4E84F-4253-4D6C-B467-672B0D927F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897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4E84F-4253-4D6C-B467-672B0D927FB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871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16256-1353-4439-36BD-8C9C7044F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13757A-65B2-7BA4-9886-8BAE82ABF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7D1858-6788-9835-F09F-08907CDB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B45C27-650D-6F87-DBD8-45796F64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266F2C-4D81-6585-BC87-6F1FC6B5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923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7834D-3DA7-64EF-F856-743F349BB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CA52F1-93CD-E2F4-2A06-61EF2C834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D3B744-2FC2-6C66-C989-6A81FD1BF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ABE23C-2D8D-DCD7-2BF3-D49C6613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DEE4F8-6766-584A-0169-78511C4E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020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98461-59C5-D494-965A-D255F0711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74B38E-EA89-0619-341E-7907185F8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1533FF-BD95-CE8A-5400-32E8FB9B3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462CDB-0EE9-E9F4-84F6-43DEC67A4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ECDAF5-E796-086F-4D86-A82F766F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36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A81FB4-C48E-2AB1-2399-705C369F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BDB976-4EF2-F862-2667-12509C41F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363343-2AA9-ADB5-27DC-412233865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F46403-50B3-300A-06FF-B20E9ADEB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49292B-C9DE-887B-B34B-F2CAD853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2BC019-62EC-4E18-A4B3-D8DBAC2A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73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99689-DB59-1CDA-5C23-428A0E1F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A64881-DFE2-2F96-296C-5F1A996F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E05106-AEEF-D3D2-51FF-A2089983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0CE2C8-540B-5450-3089-6416C4D35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AA6E349-5045-70C3-8C5D-292D39EDCD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E624FC4-DA28-4CE7-11D5-A47B2081E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AE9E6CE-D2A0-85C4-048B-5147739CF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84D317-690A-9C05-71E8-B50F036B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704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26ACA-EAC8-9EE3-B36F-04F5335B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446F997-5A67-FB27-B201-6D3ABD5CA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D3E7A6-55B5-568E-602B-865841305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854750-33A4-2639-35E3-51A1FC8D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201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023B4D-AB88-FC10-E79D-97A4E4328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839DF1-1E67-289C-2FBB-46F2684E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9AEEEB-CB77-C548-18E7-9FEFC0FA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270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F79A8-D1D2-54E6-12C9-1134369F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F9EAFB-4279-B01F-225E-DF7817B4D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D12E31-AA1E-E03F-813E-70F473F7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311ABE-7C30-D846-8690-A9B28F74A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B462A9-7323-B0D9-67B7-7C90F1D7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041E3B-B2A8-8A86-7511-662254BC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707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B05C7-7BC7-885D-B45D-4047A3083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3EB61B-D7CE-841D-4BE0-D018FE7D4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827859-3B37-68EE-993A-90A0759BE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A4E71A-72D0-ADCF-5461-43EB2156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262D3F-34F4-CA1E-D044-B8D4A871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ED4193-CCF5-7570-43EF-DB73568CB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32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0C5D3-2AE4-D50D-CFDE-D28D1558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F36280-DC36-25FF-873D-0B96377D3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B51F71-F978-FAF6-7C44-3794CA077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2E9198-5E03-9FE6-6267-BF7A4625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2644CE-54FC-1745-DBD5-6B935E14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514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03360D-E195-FE39-9B90-D29C9F7AB6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EC5412-66B5-A4E8-E22C-59B537D97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C27A13-F7BC-B06B-258F-ED9C1EE1B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5F32D8-F050-0002-BB4C-6E6AF15A3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5B7162-AF67-21AA-B2F2-F406644F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60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51E45-607D-6372-7466-4EC9EF54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BB75B8-A212-5053-8352-FB9217F6F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CD0616-3B11-5AEE-15BD-6BAEB2D61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0815B-33CC-4FB1-A58E-6D292C63E7E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8A0C6E-36B5-1C8F-77BC-AA22E030B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082602-BED4-24F6-6AC1-26A6AD891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6B6E0-E721-4136-9799-6981C903F6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9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EBAFDB-944F-18AB-359D-6882FF239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Почу</a:t>
            </a:r>
            <a:b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«Ижевский техникум экономики и права удмурт потребсоюза»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58D4C5-7328-80E1-8FAF-D751AB54F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4046" y="3205256"/>
            <a:ext cx="9803907" cy="1655762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на тему: 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Сопровождение информационной системы электронных платежей.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6E308-879C-6986-3958-FFAF232E9F93}"/>
              </a:ext>
            </a:extLst>
          </p:cNvPr>
          <p:cNvSpPr txBox="1"/>
          <p:nvPr/>
        </p:nvSpPr>
        <p:spPr>
          <a:xfrm>
            <a:off x="7723574" y="5776663"/>
            <a:ext cx="403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ИСП 34-9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Петров Роман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26350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D75F48-5523-E705-42D7-9E5FB47A19B5}"/>
              </a:ext>
            </a:extLst>
          </p:cNvPr>
          <p:cNvSpPr txBox="1"/>
          <p:nvPr/>
        </p:nvSpPr>
        <p:spPr>
          <a:xfrm>
            <a:off x="1546194" y="120758"/>
            <a:ext cx="9099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проблема исследования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E6315-FBDA-9674-8846-427896F73E90}"/>
              </a:ext>
            </a:extLst>
          </p:cNvPr>
          <p:cNvSpPr txBox="1"/>
          <p:nvPr/>
        </p:nvSpPr>
        <p:spPr>
          <a:xfrm>
            <a:off x="81377" y="1647704"/>
            <a:ext cx="377153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условиях цифровой экономики сопровождение ИС для электронных платежей критически важно для надёжности, безопасности и доверия пользователей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9B1B2-4107-7A14-1F70-229916137802}"/>
              </a:ext>
            </a:extLst>
          </p:cNvPr>
          <p:cNvSpPr txBox="1"/>
          <p:nvPr/>
        </p:nvSpPr>
        <p:spPr>
          <a:xfrm>
            <a:off x="4076329" y="1647704"/>
            <a:ext cx="36827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лёгкого, но функционального решения для сопровождения внутренних платежей в учебных и малых коммерческих структурах.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82DA4-6A19-4832-E112-164941C48D12}"/>
              </a:ext>
            </a:extLst>
          </p:cNvPr>
          <p:cNvSpPr txBox="1"/>
          <p:nvPr/>
        </p:nvSpPr>
        <p:spPr>
          <a:xfrm>
            <a:off x="7982503" y="1647704"/>
            <a:ext cx="37715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процесс сопровождения ИС электронных платежей.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методы и средства реализации платёжного функционала с ролями «пользователь» и «администратор».</a:t>
            </a:r>
          </a:p>
        </p:txBody>
      </p:sp>
    </p:spTree>
    <p:extLst>
      <p:ext uri="{BB962C8B-B14F-4D97-AF65-F5344CB8AC3E}">
        <p14:creationId xmlns:p14="http://schemas.microsoft.com/office/powerpoint/2010/main" val="294648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96FF2B-6F0D-0A51-1253-50AD012A0CF6}"/>
              </a:ext>
            </a:extLst>
          </p:cNvPr>
          <p:cNvSpPr txBox="1"/>
          <p:nvPr/>
        </p:nvSpPr>
        <p:spPr>
          <a:xfrm>
            <a:off x="301841" y="168676"/>
            <a:ext cx="5794160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разработать и сопровождать веб-ориентированную ИС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PayFlow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теорию сопровождения ИС и особенности платёжных систем.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анализ требований и выбрать стек технологий.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БД и реализовать серверную часть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интерфейс с учётом ролей.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и дать рекомендации по сопровождению.</a:t>
            </a:r>
          </a:p>
          <a:p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822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512971-3DF7-B540-B8E1-95708335D883}"/>
              </a:ext>
            </a:extLst>
          </p:cNvPr>
          <p:cNvSpPr txBox="1"/>
          <p:nvPr/>
        </p:nvSpPr>
        <p:spPr>
          <a:xfrm>
            <a:off x="2885241" y="221942"/>
            <a:ext cx="74039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и задачи сопровождения ИС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AF991-5083-EE09-F3A5-676B45ABB2A7}"/>
              </a:ext>
            </a:extLst>
          </p:cNvPr>
          <p:cNvSpPr txBox="1"/>
          <p:nvPr/>
        </p:nvSpPr>
        <p:spPr>
          <a:xfrm>
            <a:off x="142043" y="1200869"/>
            <a:ext cx="616110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Сопровождение ИС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этап жизненного цикла, включающий: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работы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устранение ошибок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модернизацию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поддержку пользователей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CEC03-B456-3B04-4FA5-0BAEEAA9AB7F}"/>
              </a:ext>
            </a:extLst>
          </p:cNvPr>
          <p:cNvSpPr txBox="1"/>
          <p:nvPr/>
        </p:nvSpPr>
        <p:spPr>
          <a:xfrm>
            <a:off x="6303146" y="4272677"/>
            <a:ext cx="58888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задачи: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бесперебойная работа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запросов и баг-фиксинг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изменениями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информации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721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68B3BC-E262-A281-4F80-E891B45DA138}"/>
              </a:ext>
            </a:extLst>
          </p:cNvPr>
          <p:cNvSpPr txBox="1"/>
          <p:nvPr/>
        </p:nvSpPr>
        <p:spPr>
          <a:xfrm>
            <a:off x="1740024" y="213065"/>
            <a:ext cx="9046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сопровождения платёжных систем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DC513-1321-8433-5C5D-47B34A7BAD2E}"/>
              </a:ext>
            </a:extLst>
          </p:cNvPr>
          <p:cNvSpPr txBox="1"/>
          <p:nvPr/>
        </p:nvSpPr>
        <p:spPr>
          <a:xfrm>
            <a:off x="5956917" y="1505396"/>
            <a:ext cx="612559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платёжной ИС:</a:t>
            </a:r>
          </a:p>
          <a:p>
            <a:pPr algn="just"/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аутентификация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баланса и истории переводов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перевод средств между счетами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пополнение баланса (через заявки администратору)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EFEF20-177C-EF17-6132-427634B98289}"/>
              </a:ext>
            </a:extLst>
          </p:cNvPr>
          <p:cNvSpPr txBox="1"/>
          <p:nvPr/>
        </p:nvSpPr>
        <p:spPr>
          <a:xfrm>
            <a:off x="292963" y="3690280"/>
            <a:ext cx="580303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Специфика сопровождения: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целостности транзакций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ролей (админ / пользователь)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аудит действий (логи пополнений, переводов)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379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F02725-D3BB-6E14-EE25-2F99B616DC85}"/>
              </a:ext>
            </a:extLst>
          </p:cNvPr>
          <p:cNvSpPr txBox="1"/>
          <p:nvPr/>
        </p:nvSpPr>
        <p:spPr>
          <a:xfrm>
            <a:off x="2574524" y="168676"/>
            <a:ext cx="76614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 (обоснование выбора)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1970F2-30B4-408D-95A5-15A27DA85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885717"/>
              </p:ext>
            </p:extLst>
          </p:nvPr>
        </p:nvGraphicFramePr>
        <p:xfrm>
          <a:off x="541538" y="1030450"/>
          <a:ext cx="11265762" cy="503306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755254">
                  <a:extLst>
                    <a:ext uri="{9D8B030D-6E8A-4147-A177-3AD203B41FA5}">
                      <a16:colId xmlns:a16="http://schemas.microsoft.com/office/drawing/2014/main" val="2929443092"/>
                    </a:ext>
                  </a:extLst>
                </a:gridCol>
                <a:gridCol w="3755254">
                  <a:extLst>
                    <a:ext uri="{9D8B030D-6E8A-4147-A177-3AD203B41FA5}">
                      <a16:colId xmlns:a16="http://schemas.microsoft.com/office/drawing/2014/main" val="933131525"/>
                    </a:ext>
                  </a:extLst>
                </a:gridCol>
                <a:gridCol w="3755254">
                  <a:extLst>
                    <a:ext uri="{9D8B030D-6E8A-4147-A177-3AD203B41FA5}">
                      <a16:colId xmlns:a16="http://schemas.microsoft.com/office/drawing/2014/main" val="3358618187"/>
                    </a:ext>
                  </a:extLst>
                </a:gridCol>
              </a:tblGrid>
              <a:tr h="1006613">
                <a:tc>
                  <a:txBody>
                    <a:bodyPr/>
                    <a:lstStyle/>
                    <a:p>
                      <a:pPr algn="ctr"/>
                      <a:r>
                        <a:rPr lang="ru-RU" sz="4800" b="0" kern="1200" dirty="0">
                          <a:solidFill>
                            <a:schemeClr val="tx1"/>
                          </a:solidFill>
                          <a:effectLst/>
                        </a:rPr>
                        <a:t>Компонент</a:t>
                      </a:r>
                      <a:endParaRPr lang="ru-RU" sz="4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800" b="0" kern="1200" dirty="0">
                          <a:solidFill>
                            <a:schemeClr val="tx1"/>
                          </a:solidFill>
                          <a:effectLst/>
                        </a:rPr>
                        <a:t>Технология</a:t>
                      </a:r>
                      <a:endParaRPr lang="ru-RU" sz="4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800" b="0" kern="1200" dirty="0">
                          <a:solidFill>
                            <a:schemeClr val="tx1"/>
                          </a:solidFill>
                          <a:effectLst/>
                        </a:rPr>
                        <a:t>Обоснование</a:t>
                      </a:r>
                      <a:endParaRPr lang="ru-RU" sz="4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775208"/>
                  </a:ext>
                </a:extLst>
              </a:tr>
              <a:tr h="1006613">
                <a:tc>
                  <a:txBody>
                    <a:bodyPr/>
                    <a:lstStyle/>
                    <a:p>
                      <a:r>
                        <a:rPr lang="ru-RU" sz="3200" b="0" kern="1200" dirty="0">
                          <a:solidFill>
                            <a:schemeClr val="tx1"/>
                          </a:solidFill>
                          <a:effectLst/>
                        </a:rPr>
                        <a:t>Серверный язык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kern="1200" dirty="0">
                          <a:solidFill>
                            <a:schemeClr val="tx1"/>
                          </a:solidFill>
                          <a:effectLst/>
                        </a:rPr>
                        <a:t>Python 3 + Flask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kern="1200" dirty="0">
                          <a:solidFill>
                            <a:schemeClr val="tx1"/>
                          </a:solidFill>
                          <a:effectLst/>
                        </a:rPr>
                        <a:t>Лёгкость, скорость разработки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662288"/>
                  </a:ext>
                </a:extLst>
              </a:tr>
              <a:tr h="1006613">
                <a:tc>
                  <a:txBody>
                    <a:bodyPr/>
                    <a:lstStyle/>
                    <a:p>
                      <a:r>
                        <a:rPr lang="ru-RU" sz="2800" b="0" kern="1200" dirty="0">
                          <a:solidFill>
                            <a:schemeClr val="tx1"/>
                          </a:solidFill>
                          <a:effectLst/>
                        </a:rPr>
                        <a:t>База данных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kern="1200" dirty="0">
                          <a:solidFill>
                            <a:schemeClr val="tx1"/>
                          </a:solidFill>
                          <a:effectLst/>
                        </a:rPr>
                        <a:t>SQLite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kern="1200" dirty="0">
                          <a:solidFill>
                            <a:schemeClr val="tx1"/>
                          </a:solidFill>
                          <a:effectLst/>
                        </a:rPr>
                        <a:t>Не требует отдельного сервера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259624"/>
                  </a:ext>
                </a:extLst>
              </a:tr>
              <a:tr h="1006613">
                <a:tc>
                  <a:txBody>
                    <a:bodyPr/>
                    <a:lstStyle/>
                    <a:p>
                      <a:r>
                        <a:rPr lang="ru-RU" sz="2800" b="0" kern="1200" dirty="0">
                          <a:solidFill>
                            <a:schemeClr val="tx1"/>
                          </a:solidFill>
                          <a:effectLst/>
                        </a:rPr>
                        <a:t>Хеширование паролей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kern="1200" dirty="0">
                          <a:solidFill>
                            <a:schemeClr val="tx1"/>
                          </a:solidFill>
                          <a:effectLst/>
                        </a:rPr>
                        <a:t>SHA‑256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kern="1200" dirty="0">
                          <a:solidFill>
                            <a:schemeClr val="tx1"/>
                          </a:solidFill>
                          <a:effectLst/>
                        </a:rPr>
                        <a:t>Надёжное хранение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186384"/>
                  </a:ext>
                </a:extLst>
              </a:tr>
              <a:tr h="1006613">
                <a:tc>
                  <a:txBody>
                    <a:bodyPr/>
                    <a:lstStyle/>
                    <a:p>
                      <a:r>
                        <a:rPr lang="ru-RU" sz="2800" b="0" kern="1200" dirty="0">
                          <a:solidFill>
                            <a:schemeClr val="tx1"/>
                          </a:solidFill>
                          <a:effectLst/>
                        </a:rPr>
                        <a:t>Интерфейс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kern="1200" dirty="0">
                          <a:solidFill>
                            <a:schemeClr val="tx1"/>
                          </a:solidFill>
                          <a:effectLst/>
                        </a:rPr>
                        <a:t>HTML5 + CSS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kern="1200" dirty="0">
                          <a:solidFill>
                            <a:schemeClr val="tx1"/>
                          </a:solidFill>
                          <a:effectLst/>
                        </a:rPr>
                        <a:t>Минимализм, простота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47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386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B92AD6-CDD1-C163-82AB-D69C31E78E74}"/>
              </a:ext>
            </a:extLst>
          </p:cNvPr>
          <p:cNvSpPr txBox="1"/>
          <p:nvPr/>
        </p:nvSpPr>
        <p:spPr>
          <a:xfrm>
            <a:off x="213063" y="204186"/>
            <a:ext cx="658723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 к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PayFlow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/ аутентификация (логин, пароль)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Личный кабинет: баланс, история переводов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Отправка платежа другому пользователю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Заявка на пополнение баланса (сумма + комментарий)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администратора: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пользователями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транзакций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одобрение/отклонение заявок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247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AFF0A5-DD99-5E6E-998C-6FD3012134E3}"/>
              </a:ext>
            </a:extLst>
          </p:cNvPr>
          <p:cNvSpPr txBox="1"/>
          <p:nvPr/>
        </p:nvSpPr>
        <p:spPr>
          <a:xfrm>
            <a:off x="3153052" y="248573"/>
            <a:ext cx="64259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труктура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базы данных 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1D70E-DD43-EADA-4D5D-6D2648E06397}"/>
              </a:ext>
            </a:extLst>
          </p:cNvPr>
          <p:cNvSpPr txBox="1"/>
          <p:nvPr/>
        </p:nvSpPr>
        <p:spPr>
          <a:xfrm>
            <a:off x="224900" y="1562470"/>
            <a:ext cx="585630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Три таблицы: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users (id, username, password, role, balance)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transactions (id, </a:t>
            </a:r>
            <a:r>
              <a:rPr lang="en-US" sz="2400" dirty="0" err="1"/>
              <a:t>sender_id</a:t>
            </a:r>
            <a:r>
              <a:rPr lang="en-US" sz="2400" dirty="0"/>
              <a:t>, </a:t>
            </a:r>
            <a:r>
              <a:rPr lang="en-US" sz="2400" dirty="0" err="1"/>
              <a:t>receiver_id</a:t>
            </a:r>
            <a:r>
              <a:rPr lang="en-US" sz="2400" dirty="0"/>
              <a:t>, amount, status)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topup_requests</a:t>
            </a:r>
            <a:r>
              <a:rPr lang="en-US" sz="2400" dirty="0"/>
              <a:t> (id, </a:t>
            </a:r>
            <a:r>
              <a:rPr lang="en-US" sz="2400" dirty="0" err="1"/>
              <a:t>user_id</a:t>
            </a:r>
            <a:r>
              <a:rPr lang="en-US" sz="2400" dirty="0"/>
              <a:t>, amount, status, </a:t>
            </a:r>
            <a:r>
              <a:rPr lang="en-US" sz="2400" dirty="0" err="1"/>
              <a:t>admin_note</a:t>
            </a:r>
            <a:r>
              <a:rPr lang="en-US" sz="2400" dirty="0"/>
              <a:t>)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D9839-791E-1DF1-8861-33C6F60BEFB2}"/>
              </a:ext>
            </a:extLst>
          </p:cNvPr>
          <p:cNvSpPr txBox="1"/>
          <p:nvPr/>
        </p:nvSpPr>
        <p:spPr>
          <a:xfrm>
            <a:off x="6110799" y="1562470"/>
            <a:ext cx="58563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Связи: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transactions.sender_id</a:t>
            </a:r>
            <a:r>
              <a:rPr lang="en-US" sz="2400" dirty="0"/>
              <a:t> → users.id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topup_requests.user_id</a:t>
            </a:r>
            <a:r>
              <a:rPr lang="en-US" sz="2400" dirty="0"/>
              <a:t> → users.id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45028D-2AC8-31BC-24BA-55332F530AC6}"/>
              </a:ext>
            </a:extLst>
          </p:cNvPr>
          <p:cNvSpPr txBox="1"/>
          <p:nvPr/>
        </p:nvSpPr>
        <p:spPr>
          <a:xfrm>
            <a:off x="6110799" y="2828835"/>
            <a:ext cx="50602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Расчётная формула:</a:t>
            </a:r>
            <a:br>
              <a:rPr lang="ru-RU" sz="2400" dirty="0"/>
            </a:br>
            <a:r>
              <a:rPr lang="ru-RU" sz="2400" dirty="0"/>
              <a:t>L = (</a:t>
            </a:r>
            <a:r>
              <a:rPr lang="en-US" sz="2400" dirty="0"/>
              <a:t>a</a:t>
            </a:r>
            <a:r>
              <a:rPr lang="ru-RU" sz="2400" dirty="0"/>
              <a:t> балансов пользователей) / (</a:t>
            </a:r>
            <a:r>
              <a:rPr lang="en-US" sz="2400" dirty="0"/>
              <a:t>b</a:t>
            </a:r>
            <a:r>
              <a:rPr lang="ru-RU" sz="2400" dirty="0"/>
              <a:t> исходящих платежей за период)</a:t>
            </a:r>
            <a:br>
              <a:rPr lang="ru-RU" sz="2400" dirty="0"/>
            </a:br>
            <a:r>
              <a:rPr lang="ru-RU" sz="2400" dirty="0"/>
              <a:t>В </a:t>
            </a:r>
            <a:r>
              <a:rPr lang="ru-RU" sz="2400" dirty="0" err="1"/>
              <a:t>PayFlow</a:t>
            </a:r>
            <a:r>
              <a:rPr lang="ru-RU" sz="2400" dirty="0"/>
              <a:t> L ≥ 1 всегда.</a:t>
            </a:r>
          </a:p>
        </p:txBody>
      </p:sp>
    </p:spTree>
    <p:extLst>
      <p:ext uri="{BB962C8B-B14F-4D97-AF65-F5344CB8AC3E}">
        <p14:creationId xmlns:p14="http://schemas.microsoft.com/office/powerpoint/2010/main" val="2933340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905B58-79E6-FA26-5439-BEEA58B6F7B5}"/>
              </a:ext>
            </a:extLst>
          </p:cNvPr>
          <p:cNvSpPr txBox="1"/>
          <p:nvPr/>
        </p:nvSpPr>
        <p:spPr>
          <a:xfrm>
            <a:off x="3195961" y="213064"/>
            <a:ext cx="66316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Блок-схема выполнения платежа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9364D-6B28-2557-6BC0-5688D6319043}"/>
              </a:ext>
            </a:extLst>
          </p:cNvPr>
          <p:cNvSpPr txBox="1"/>
          <p:nvPr/>
        </p:nvSpPr>
        <p:spPr>
          <a:xfrm>
            <a:off x="452761" y="1074838"/>
            <a:ext cx="1118586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[Начало] → [Проверка аутентификации] → [Поиск получателя]</a:t>
            </a:r>
            <a:br>
              <a:rPr lang="ru-RU" sz="3200" dirty="0"/>
            </a:br>
            <a:r>
              <a:rPr lang="ru-RU" sz="3200" dirty="0"/>
              <a:t>→ [Достаточно средств?]</a:t>
            </a:r>
            <a:br>
              <a:rPr lang="ru-RU" sz="3200" dirty="0"/>
            </a:br>
            <a:r>
              <a:rPr lang="ru-RU" sz="3200" dirty="0"/>
              <a:t> → (Да) → [Списать с отправителя, зачислить получателю] → [Запись транзакции] → [Конец]</a:t>
            </a:r>
            <a:br>
              <a:rPr lang="ru-RU" sz="3200" dirty="0"/>
            </a:br>
            <a:r>
              <a:rPr lang="ru-RU" sz="3200" dirty="0"/>
              <a:t> → (Нет) → [Сообщение об ошибке] → [Конец]</a:t>
            </a:r>
          </a:p>
        </p:txBody>
      </p:sp>
    </p:spTree>
    <p:extLst>
      <p:ext uri="{BB962C8B-B14F-4D97-AF65-F5344CB8AC3E}">
        <p14:creationId xmlns:p14="http://schemas.microsoft.com/office/powerpoint/2010/main" val="4252040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A73A99-F400-F4B2-8B94-523DFC0820AF}"/>
              </a:ext>
            </a:extLst>
          </p:cNvPr>
          <p:cNvSpPr txBox="1"/>
          <p:nvPr/>
        </p:nvSpPr>
        <p:spPr>
          <a:xfrm>
            <a:off x="2423603" y="213064"/>
            <a:ext cx="770581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Реализация интерфейса и тестирование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DDE51-97BB-3474-51F9-804B6D82615E}"/>
              </a:ext>
            </a:extLst>
          </p:cNvPr>
          <p:cNvSpPr txBox="1"/>
          <p:nvPr/>
        </p:nvSpPr>
        <p:spPr>
          <a:xfrm>
            <a:off x="452760" y="1336119"/>
            <a:ext cx="582375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Особенности интерфейса:</a:t>
            </a:r>
            <a:endParaRPr lang="en-US" sz="2400" b="1" dirty="0"/>
          </a:p>
          <a:p>
            <a:endParaRPr lang="ru-RU" sz="2400" dirty="0"/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Единый стиль</a:t>
            </a:r>
            <a:r>
              <a:rPr lang="en-US" sz="2400" dirty="0"/>
              <a:t>.</a:t>
            </a:r>
            <a:endParaRPr lang="ru-RU" sz="2400" dirty="0"/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Навигация в зависимости от роли</a:t>
            </a:r>
            <a:r>
              <a:rPr lang="en-US" sz="2400" dirty="0"/>
              <a:t>.</a:t>
            </a:r>
            <a:endParaRPr lang="ru-RU" sz="2400" dirty="0"/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93453-31CA-9E91-8EC6-986F9286176A}"/>
              </a:ext>
            </a:extLst>
          </p:cNvPr>
          <p:cNvSpPr txBox="1"/>
          <p:nvPr/>
        </p:nvSpPr>
        <p:spPr>
          <a:xfrm>
            <a:off x="5666913" y="3164681"/>
            <a:ext cx="60723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Сценарии тестирования (все успешно):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Регистрация → баланс 1000 ₽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Перевод → баланс обновлён, транзакция сохранена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Заявка на пополнение → статус </a:t>
            </a:r>
            <a:r>
              <a:rPr lang="ru-RU" sz="2400" dirty="0" err="1"/>
              <a:t>pending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Одобрение админом → баланс увеличен, статус </a:t>
            </a:r>
            <a:r>
              <a:rPr lang="ru-RU" sz="2400" dirty="0" err="1"/>
              <a:t>approved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Отклонение с причиной → баланс не меняется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3904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10D04B-0705-96B9-D51B-D2C7D56FAFDC}"/>
              </a:ext>
            </a:extLst>
          </p:cNvPr>
          <p:cNvSpPr txBox="1"/>
          <p:nvPr/>
        </p:nvSpPr>
        <p:spPr>
          <a:xfrm>
            <a:off x="2737282" y="62144"/>
            <a:ext cx="69512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Оценка эффективности ИС </a:t>
            </a:r>
            <a:r>
              <a:rPr lang="en-US" sz="3200" b="1" dirty="0" err="1"/>
              <a:t>PayFlow</a:t>
            </a:r>
            <a:endParaRPr lang="en-US" sz="3200" b="1" dirty="0"/>
          </a:p>
          <a:p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7E8F77E-FA38-E37F-56EF-BA1D36874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183489"/>
              </p:ext>
            </p:extLst>
          </p:nvPr>
        </p:nvGraphicFramePr>
        <p:xfrm>
          <a:off x="461639" y="693033"/>
          <a:ext cx="11245048" cy="492293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511553">
                  <a:extLst>
                    <a:ext uri="{9D8B030D-6E8A-4147-A177-3AD203B41FA5}">
                      <a16:colId xmlns:a16="http://schemas.microsoft.com/office/drawing/2014/main" val="11196475"/>
                    </a:ext>
                  </a:extLst>
                </a:gridCol>
                <a:gridCol w="5733495">
                  <a:extLst>
                    <a:ext uri="{9D8B030D-6E8A-4147-A177-3AD203B41FA5}">
                      <a16:colId xmlns:a16="http://schemas.microsoft.com/office/drawing/2014/main" val="1050645907"/>
                    </a:ext>
                  </a:extLst>
                </a:gridCol>
              </a:tblGrid>
              <a:tr h="984586">
                <a:tc>
                  <a:txBody>
                    <a:bodyPr/>
                    <a:lstStyle/>
                    <a:p>
                      <a:pPr algn="ctr"/>
                      <a:r>
                        <a:rPr lang="ru-RU" sz="5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Критерий</a:t>
                      </a:r>
                      <a:endParaRPr lang="ru-RU" sz="5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</a:t>
                      </a:r>
                      <a:endParaRPr lang="ru-RU" sz="5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124378"/>
                  </a:ext>
                </a:extLst>
              </a:tr>
              <a:tr h="984586"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Время обработки перевода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0.05 с (локально)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69609"/>
                  </a:ext>
                </a:extLst>
              </a:tr>
              <a:tr h="984586"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Поддержка ролей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/ admin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773575"/>
                  </a:ext>
                </a:extLst>
              </a:tr>
              <a:tr h="984586"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Логирование заявок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Полное (статус, дата, примечание)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819921"/>
                  </a:ext>
                </a:extLst>
              </a:tr>
              <a:tr h="984586"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Масштабируемость БД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</a:t>
                      </a:r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</a:t>
                      </a:r>
                      <a:r>
                        <a:rPr lang="ru-RU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</a:t>
                      </a:r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без переписывания логики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96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54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30E28-0EF2-B9D9-7CE7-6D3E451B95EC}"/>
              </a:ext>
            </a:extLst>
          </p:cNvPr>
          <p:cNvSpPr txBox="1"/>
          <p:nvPr/>
        </p:nvSpPr>
        <p:spPr>
          <a:xfrm>
            <a:off x="2459115" y="221942"/>
            <a:ext cx="75815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Заключение и практическая значимость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258B94-1C19-5BB7-6726-7BBBF2D610F6}"/>
              </a:ext>
            </a:extLst>
          </p:cNvPr>
          <p:cNvSpPr txBox="1"/>
          <p:nvPr/>
        </p:nvSpPr>
        <p:spPr>
          <a:xfrm>
            <a:off x="390616" y="1093234"/>
            <a:ext cx="57053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Итоги:</a:t>
            </a:r>
          </a:p>
          <a:p>
            <a:endParaRPr lang="ru-RU" sz="28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2800" dirty="0"/>
              <a:t>Разработана и протестирована ИС </a:t>
            </a:r>
            <a:r>
              <a:rPr lang="ru-RU" sz="2800" dirty="0" err="1"/>
              <a:t>PayFlow</a:t>
            </a:r>
            <a:endParaRPr lang="ru-RU" sz="28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2800" dirty="0"/>
              <a:t>Реализованы роли, транзакции, заявки, администрирование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ACF22-0185-2D2F-8730-F97945E17AC4}"/>
              </a:ext>
            </a:extLst>
          </p:cNvPr>
          <p:cNvSpPr txBox="1"/>
          <p:nvPr/>
        </p:nvSpPr>
        <p:spPr>
          <a:xfrm>
            <a:off x="6249880" y="1083716"/>
            <a:ext cx="5409461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Практическая значимость:</a:t>
            </a:r>
          </a:p>
          <a:p>
            <a:pPr algn="just"/>
            <a:br>
              <a:rPr lang="ru-RU" sz="2800" dirty="0"/>
            </a:br>
            <a:r>
              <a:rPr lang="ru-RU" sz="2800" dirty="0"/>
              <a:t>Возможность использования в учебных заведениях для внутренних расчётов (стипендии, взносы) и в малых организациях с минимальными затратами</a:t>
            </a:r>
            <a:r>
              <a:rPr lang="ru-RU" sz="32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6256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EA0BBD-39D9-2C0C-84CF-CE1F4925CF80}"/>
              </a:ext>
            </a:extLst>
          </p:cNvPr>
          <p:cNvSpPr txBox="1"/>
          <p:nvPr/>
        </p:nvSpPr>
        <p:spPr>
          <a:xfrm>
            <a:off x="1899820" y="2659559"/>
            <a:ext cx="8895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Благодарю вас, за ваше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00349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653</Words>
  <Application>Microsoft Office PowerPoint</Application>
  <PresentationFormat>Широкоэкранный</PresentationFormat>
  <Paragraphs>118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Почу «Ижевский техникум экономики и права удмурт потребсоюза»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Romzya PC</dc:creator>
  <cp:lastModifiedBy>Romzya PC</cp:lastModifiedBy>
  <cp:revision>2</cp:revision>
  <dcterms:created xsi:type="dcterms:W3CDTF">2026-05-28T19:21:33Z</dcterms:created>
  <dcterms:modified xsi:type="dcterms:W3CDTF">2026-05-28T20:27:48Z</dcterms:modified>
</cp:coreProperties>
</file>